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E0F1"/>
    <a:srgbClr val="1B1F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3" d="100"/>
          <a:sy n="63" d="100"/>
        </p:scale>
        <p:origin x="62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429CAF4-0243-CAF6-2F3E-5F54C46017FB}"/>
              </a:ext>
            </a:extLst>
          </p:cNvPr>
          <p:cNvGrpSpPr/>
          <p:nvPr/>
        </p:nvGrpSpPr>
        <p:grpSpPr>
          <a:xfrm>
            <a:off x="0" y="38100"/>
            <a:ext cx="16256000" cy="9067800"/>
            <a:chOff x="0" y="38100"/>
            <a:chExt cx="16256000" cy="906780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TextBox 2">
              <a:extLst>
                <a:ext uri="{FF2B5EF4-FFF2-40B4-BE49-F238E27FC236}">
                  <a16:creationId xmlns:a16="http://schemas.microsoft.com/office/drawing/2014/main" id="{6B17CA2D-50BF-6E23-FE2E-F8E82DFC364C}"/>
                </a:ext>
              </a:extLst>
            </p:cNvPr>
            <p:cNvSpPr txBox="1"/>
            <p:nvPr/>
          </p:nvSpPr>
          <p:spPr>
            <a:xfrm>
              <a:off x="660400" y="6248400"/>
              <a:ext cx="14935200" cy="2308324"/>
            </a:xfrm>
            <a:prstGeom prst="rect">
              <a:avLst/>
            </a:prstGeom>
            <a:solidFill>
              <a:srgbClr val="1B1F20"/>
            </a:solidFill>
          </p:spPr>
          <p:txBody>
            <a:bodyPr wrap="square" rtlCol="0">
              <a:spAutoFit/>
            </a:bodyPr>
            <a:lstStyle/>
            <a:p>
              <a:pPr marL="342900" indent="-342900">
                <a:buFont typeface="Arial" panose="020B0604020202020204" pitchFamily="34" charset="0"/>
                <a:buChar char="•"/>
              </a:pPr>
              <a:r>
                <a:rPr lang="vi-VN" sz="2400" b="1" dirty="0">
                  <a:solidFill>
                    <a:srgbClr val="CDE0F1"/>
                  </a:solidFill>
                </a:rPr>
                <a:t>Kiến trúc Tách rời (Decoupled):</a:t>
              </a:r>
              <a:r>
                <a:rPr lang="vi-VN" sz="2400" dirty="0">
                  <a:solidFill>
                    <a:srgbClr val="CDE0F1"/>
                  </a:solidFill>
                </a:rPr>
                <a:t> Trạm trung chuyển Apache Kafka đóng vai trò như "Hồ chứa" (Reservoir) hấp thụ toàn bộ lưu lượng thô. Cụm Spark (RAM Generator) hoạt động hoàn toàn độc lập phía sau để kéo dữ liệu về xử lý mà không làm ảnh hưởng đến máy chủ web gốc.</a:t>
              </a:r>
            </a:p>
            <a:p>
              <a:pPr marL="342900" indent="-342900">
                <a:buFont typeface="Arial" panose="020B0604020202020204" pitchFamily="34" charset="0"/>
                <a:buChar char="•"/>
              </a:pPr>
              <a:r>
                <a:rPr lang="vi-VN" sz="2400" b="1" dirty="0">
                  <a:solidFill>
                    <a:srgbClr val="CDE0F1"/>
                  </a:solidFill>
                </a:rPr>
                <a:t>Phân luồng Dữ liệu:</a:t>
              </a:r>
              <a:r>
                <a:rPr lang="vi-VN" sz="2400" dirty="0">
                  <a:solidFill>
                    <a:srgbClr val="CDE0F1"/>
                  </a:solidFill>
                </a:rPr>
                <a:t> Thuật toán tự động nhận diện và rẽ nhánh luồng dữ liệu. Các IP tấn công (Threat) bị cô lập tức thời (Security), trong khi 70% luồng dữ liệu sạch được tái sử dụng để đẩy về Bảng điều khiển phân tích kinh doanh (BI).</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121</Words>
  <Application>Microsoft Office PowerPoint</Application>
  <PresentationFormat>Custom</PresentationFormat>
  <Paragraphs>2</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Cao Son Ng Truong</cp:lastModifiedBy>
  <cp:revision>2</cp:revision>
  <dcterms:created xsi:type="dcterms:W3CDTF">2006-08-16T00:00:00Z</dcterms:created>
  <dcterms:modified xsi:type="dcterms:W3CDTF">2026-04-15T14:42:19Z</dcterms:modified>
</cp:coreProperties>
</file>